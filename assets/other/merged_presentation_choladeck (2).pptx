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docProps/core.xml" ContentType="application/vnd.openxmlformats-package.core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f1cbf5d8d34902" /><Relationship Type="http://schemas.openxmlformats.org/package/2006/relationships/metadata/core-properties" Target="/docProps/core.xml" Id="R98905eaa231742e5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2243747a578f4dd4"/>
  </p:sldMasterIdLst>
  <p:notesMasterIdLst>
    <p:notesMasterId r:id="R8316cce6410c42cc"/>
  </p:notesMasterIdLst>
  <p:sldIdLst>
    <p:sldId id="256" r:id="R0f52701dfd5445e4"/>
    <p:sldId id="257" r:id="R89d7ac12696b43a0"/>
    <p:sldId id="258" r:id="R8e0f00bac8514a11"/>
    <p:sldId id="259" r:id="R85d6f54272ea468c"/>
    <p:sldId id="260" r:id="R675f0e5b1f644e79"/>
    <p:sldId id="261" r:id="R208a0befe344413d"/>
    <p:sldId id="262" r:id="Ra5913a02f7cb42ad"/>
    <p:sldId id="263" r:id="Rba772aa858294464"/>
    <p:sldId id="264" r:id="R4b522b5d4bc2423d"/>
    <p:sldId id="265" r:id="Rff88dad3483a436b"/>
    <p:sldId id="266" r:id="R8cdeaa14baf443ab"/>
    <p:sldId id="267" r:id="R8d1c851101ad4ca7"/>
    <p:sldId id="268" r:id="R82daee63eb354866"/>
    <p:sldId id="269" r:id="R688999b62a6849a4"/>
    <p:sldId id="270" r:id="Ra360e7b9f8f64f60"/>
  </p:sldIdLst>
  <p:sldSz cx="9144000" cy="5143500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316cce6410c42cc" /><Relationship Type="http://schemas.openxmlformats.org/officeDocument/2006/relationships/presProps" Target="/ppt/presProps.xml" Id="R1b2111d2325d42cd" /><Relationship Type="http://schemas.openxmlformats.org/officeDocument/2006/relationships/slideMaster" Target="/ppt/slideMasters/slideMaster1.xml" Id="R2243747a578f4dd4" /><Relationship Type="http://schemas.openxmlformats.org/officeDocument/2006/relationships/theme" Target="/ppt/slideMasters/theme/theme2.xml" Id="R63b5cc0eec724e4c" /><Relationship Type="http://schemas.openxmlformats.org/officeDocument/2006/relationships/slide" Target="/ppt/slides/slide1.xml" Id="R0f52701dfd5445e4" /><Relationship Type="http://schemas.openxmlformats.org/officeDocument/2006/relationships/slide" Target="/ppt/slides/slide2.xml" Id="R89d7ac12696b43a0" /><Relationship Type="http://schemas.openxmlformats.org/officeDocument/2006/relationships/slide" Target="/ppt/slides/slide3.xml" Id="R8e0f00bac8514a11" /><Relationship Type="http://schemas.openxmlformats.org/officeDocument/2006/relationships/slide" Target="/ppt/slides/slide4.xml" Id="R85d6f54272ea468c" /><Relationship Type="http://schemas.openxmlformats.org/officeDocument/2006/relationships/slide" Target="/ppt/slides/slide5.xml" Id="R675f0e5b1f644e79" /><Relationship Type="http://schemas.openxmlformats.org/officeDocument/2006/relationships/slide" Target="/ppt/slides/slide6.xml" Id="R208a0befe344413d" /><Relationship Type="http://schemas.openxmlformats.org/officeDocument/2006/relationships/slide" Target="/ppt/slides/slide7.xml" Id="Ra5913a02f7cb42ad" /><Relationship Type="http://schemas.openxmlformats.org/officeDocument/2006/relationships/slide" Target="/ppt/slides/slide8.xml" Id="Rba772aa858294464" /><Relationship Type="http://schemas.openxmlformats.org/officeDocument/2006/relationships/slide" Target="/ppt/slides/slide9.xml" Id="R4b522b5d4bc2423d" /><Relationship Type="http://schemas.openxmlformats.org/officeDocument/2006/relationships/slide" Target="/ppt/slides/slide10.xml" Id="Rff88dad3483a436b" /><Relationship Type="http://schemas.openxmlformats.org/officeDocument/2006/relationships/slide" Target="/ppt/slides/slide11.xml" Id="R8cdeaa14baf443ab" /><Relationship Type="http://schemas.openxmlformats.org/officeDocument/2006/relationships/slide" Target="/ppt/slides/slide12.xml" Id="R8d1c851101ad4ca7" /><Relationship Type="http://schemas.openxmlformats.org/officeDocument/2006/relationships/slide" Target="/ppt/slides/slide13.xml" Id="R82daee63eb354866" /><Relationship Type="http://schemas.openxmlformats.org/officeDocument/2006/relationships/slide" Target="/ppt/slides/slide14.xml" Id="R688999b62a6849a4" /><Relationship Type="http://schemas.openxmlformats.org/officeDocument/2006/relationships/slide" Target="/ppt/slides/slide15.xml" Id="Ra360e7b9f8f64f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74cee5c81aef451b" 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Masters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009d33f324821" /><Relationship Type="http://schemas.openxmlformats.org/officeDocument/2006/relationships/notesMaster" Target="/ppt/notesMasters/notesMaster1.xml" Id="R44a9be8d2b3c48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956c67db214faf" /><Relationship Type="http://schemas.openxmlformats.org/officeDocument/2006/relationships/notesMaster" Target="/ppt/notesMasters/notesMaster1.xml" Id="R25eaf605a6e144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6c1522bdc34ac3" /><Relationship Type="http://schemas.openxmlformats.org/officeDocument/2006/relationships/notesMaster" Target="/ppt/notesMasters/notesMaster1.xml" Id="Rb929df79b88147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785d702e4b4c17" /><Relationship Type="http://schemas.openxmlformats.org/officeDocument/2006/relationships/notesMaster" Target="/ppt/notesMasters/notesMaster1.xml" Id="R32f77f275ba84f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55b79e625944c5" /><Relationship Type="http://schemas.openxmlformats.org/officeDocument/2006/relationships/notesMaster" Target="/ppt/notesMasters/notesMaster1.xml" Id="Rec1242a512f8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966879c7fe4b54" /><Relationship Type="http://schemas.openxmlformats.org/officeDocument/2006/relationships/notesMaster" Target="/ppt/notesMasters/notesMaster1.xml" Id="R623fad12a40d41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d4eace8a374b42" /><Relationship Type="http://schemas.openxmlformats.org/officeDocument/2006/relationships/notesMaster" Target="/ppt/notesMasters/notesMaster1.xml" Id="Rb987a111dd9e4e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e21ff41edc4190" /><Relationship Type="http://schemas.openxmlformats.org/officeDocument/2006/relationships/notesMaster" Target="/ppt/notesMasters/notesMaster1.xml" Id="Rd7b907253a4e42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c60231f0ed4e12" /><Relationship Type="http://schemas.openxmlformats.org/officeDocument/2006/relationships/notesMaster" Target="/ppt/notesMasters/notesMaster1.xml" Id="R303a270d129a4f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3f51e075704a61" /><Relationship Type="http://schemas.openxmlformats.org/officeDocument/2006/relationships/notesMaster" Target="/ppt/notesMasters/notesMaster1.xml" Id="R552c21f5fdec48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85befc001e48e9" /><Relationship Type="http://schemas.openxmlformats.org/officeDocument/2006/relationships/notesMaster" Target="/ppt/notesMasters/notesMaster1.xml" Id="R39fd58e04ed446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4eb3ad1d034f16" /><Relationship Type="http://schemas.openxmlformats.org/officeDocument/2006/relationships/notesMaster" Target="/ppt/notesMasters/notesMaster1.xml" Id="Rf394ef3c322a45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e9231bd50f4bb2" /><Relationship Type="http://schemas.openxmlformats.org/officeDocument/2006/relationships/notesMaster" Target="/ppt/notesMasters/notesMaster1.xml" Id="Re5afc168c79e48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d45403e02042e2" /><Relationship Type="http://schemas.openxmlformats.org/officeDocument/2006/relationships/notesMaster" Target="/ppt/notesMasters/notesMaster1.xml" Id="R0f6aa14b992148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7fe8de03f3408c" /><Relationship Type="http://schemas.openxmlformats.org/officeDocument/2006/relationships/notesMaster" Target="/ppt/notesMasters/notesMaster1.xml" Id="R2a2e2ff704cf4fb6"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70b21993b4965" /><Relationship Type="http://schemas.openxmlformats.org/officeDocument/2006/relationships/image" Target="/ppt/media/image.png" Id="Rf5b2b1335a484e6b" /><Relationship Type="http://schemas.openxmlformats.org/officeDocument/2006/relationships/hyperlink" Target="https://gamma.app/?utm_source=made-with-gamma" TargetMode="External" Id="rcId7829eec8d0794d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125b065994afd" /><Relationship Type="http://schemas.openxmlformats.org/officeDocument/2006/relationships/image" Target="/ppt/media/image.png" Id="Ra9afbf2e7b094c5e" /><Relationship Type="http://schemas.openxmlformats.org/officeDocument/2006/relationships/hyperlink" Target="https://gamma.app/?utm_source=made-with-gamma" TargetMode="External" Id="rcId71d3865a35924f1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d9b2883784c40" /><Relationship Type="http://schemas.openxmlformats.org/officeDocument/2006/relationships/image" Target="/ppt/media/image.png" Id="Rf2fa7825ee7c413a" /><Relationship Type="http://schemas.openxmlformats.org/officeDocument/2006/relationships/hyperlink" Target="https://gamma.app/?utm_source=made-with-gamma" TargetMode="External" Id="rcIda3f6f5f2463640e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d8d68beb049bd" /><Relationship Type="http://schemas.openxmlformats.org/officeDocument/2006/relationships/image" Target="/ppt/media/image.png" Id="Rd3d0cd457c2b4335" /><Relationship Type="http://schemas.openxmlformats.org/officeDocument/2006/relationships/hyperlink" Target="https://gamma.app/?utm_source=made-with-gamma" TargetMode="External" Id="rcIdca134909c34f49c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4407350cd4b35" /><Relationship Type="http://schemas.openxmlformats.org/officeDocument/2006/relationships/image" Target="/ppt/media/image.png" Id="R7c1be2d6208848c7" /><Relationship Type="http://schemas.openxmlformats.org/officeDocument/2006/relationships/hyperlink" Target="https://gamma.app/?utm_source=made-with-gamma" TargetMode="External" Id="rcId3b8f4a426503449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92c09f3c045da" /><Relationship Type="http://schemas.openxmlformats.org/officeDocument/2006/relationships/image" Target="/ppt/media/image.png" Id="Rd4d4b4b2f66b4388" /><Relationship Type="http://schemas.openxmlformats.org/officeDocument/2006/relationships/hyperlink" Target="https://gamma.app/?utm_source=made-with-gamma" TargetMode="External" Id="rcIda5f350fed264485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8ccb3f7034bc3" /><Relationship Type="http://schemas.openxmlformats.org/officeDocument/2006/relationships/image" Target="/ppt/media/image.png" Id="R2f1a181b3e2f4a56" /><Relationship Type="http://schemas.openxmlformats.org/officeDocument/2006/relationships/hyperlink" Target="https://gamma.app/?utm_source=made-with-gamma" TargetMode="External" Id="rcId2b360ba6488c44d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c852f15bf415c" /><Relationship Type="http://schemas.openxmlformats.org/officeDocument/2006/relationships/image" Target="/ppt/media/image.png" Id="R6a7e7049f56b4bb3" /><Relationship Type="http://schemas.openxmlformats.org/officeDocument/2006/relationships/hyperlink" Target="https://gamma.app/?utm_source=made-with-gamma" TargetMode="External" Id="rcIde6fbc0bd850d485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5bf0a84e04fde" /><Relationship Type="http://schemas.openxmlformats.org/officeDocument/2006/relationships/image" Target="/ppt/media/image.png" Id="R104dc3c9bec3424f" /><Relationship Type="http://schemas.openxmlformats.org/officeDocument/2006/relationships/hyperlink" Target="https://gamma.app/?utm_source=made-with-gamma" TargetMode="External" Id="rcId4b4f906de08c49c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3b015b71e4aac" /><Relationship Type="http://schemas.openxmlformats.org/officeDocument/2006/relationships/image" Target="/ppt/media/image.png" Id="R2f199bd738a34a58" /><Relationship Type="http://schemas.openxmlformats.org/officeDocument/2006/relationships/hyperlink" Target="https://gamma.app/?utm_source=made-with-gamma" TargetMode="External" Id="rcId6eb19ddaa69a4d9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4dfc11dbd4c2c" /><Relationship Type="http://schemas.openxmlformats.org/officeDocument/2006/relationships/image" Target="/ppt/media/image.png" Id="R675e453ff9af46a2" /><Relationship Type="http://schemas.openxmlformats.org/officeDocument/2006/relationships/hyperlink" Target="https://gamma.app/?utm_source=made-with-gamma" TargetMode="External" Id="rcId1f61fedba72b464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409daf2704725" /><Relationship Type="http://schemas.openxmlformats.org/officeDocument/2006/relationships/image" Target="/ppt/media/image.png" Id="Re3134114729348d9" /><Relationship Type="http://schemas.openxmlformats.org/officeDocument/2006/relationships/hyperlink" Target="https://gamma.app/?utm_source=made-with-gamma" TargetMode="External" Id="rcId3d86ab511c18401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a1cda2c984759" /><Relationship Type="http://schemas.openxmlformats.org/officeDocument/2006/relationships/image" Target="/ppt/media/image.png" Id="R070162c389b34892" /><Relationship Type="http://schemas.openxmlformats.org/officeDocument/2006/relationships/hyperlink" Target="https://gamma.app/?utm_source=made-with-gamma" TargetMode="External" Id="rcId36780885c36e49a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3b95f70df4870" /><Relationship Type="http://schemas.openxmlformats.org/officeDocument/2006/relationships/image" Target="/ppt/media/image.png" Id="Rf775f463f8304391" /><Relationship Type="http://schemas.openxmlformats.org/officeDocument/2006/relationships/hyperlink" Target="https://gamma.app/?utm_source=made-with-gamma" TargetMode="External" Id="rcId5a18f186c74640e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50e87ff58458d" /><Relationship Type="http://schemas.openxmlformats.org/officeDocument/2006/relationships/image" Target="/ppt/media/image.png" Id="Re7566014c4634b9b" /><Relationship Type="http://schemas.openxmlformats.org/officeDocument/2006/relationships/hyperlink" Target="https://gamma.app/?utm_source=made-with-gamma" TargetMode="External" Id="rcId18dec68929e945be"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2">
            <a:hlinkClick r:id="rcId7829eec8d0794d71"/>
          </p:cNvPr>
          <p:cNvPicPr preferRelativeResize="0"/>
          <p:nvPr/>
        </p:nvPicPr>
        <p:blipFill rotWithShape="1">
          <a:blip r:embed="Rf5b2b1335a484e6b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cId71d3865a35924f10"/>
          </p:cNvPr>
          <p:cNvPicPr preferRelativeResize="0"/>
          <p:nvPr/>
        </p:nvPicPr>
        <p:blipFill rotWithShape="1">
          <a:blip r:embed="Ra9afbf2e7b094c5e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cIda3f6f5f2463640e3"/>
          </p:cNvPr>
          <p:cNvPicPr preferRelativeResize="0"/>
          <p:nvPr/>
        </p:nvPicPr>
        <p:blipFill rotWithShape="1">
          <a:blip r:embed="Rf2fa7825ee7c413a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cIdca134909c34f49c6"/>
          </p:cNvPr>
          <p:cNvPicPr preferRelativeResize="0"/>
          <p:nvPr/>
        </p:nvPicPr>
        <p:blipFill rotWithShape="1">
          <a:blip r:embed="Rd3d0cd457c2b4335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cId3b8f4a426503449c"/>
          </p:cNvPr>
          <p:cNvPicPr preferRelativeResize="0"/>
          <p:nvPr/>
        </p:nvPicPr>
        <p:blipFill rotWithShape="1">
          <a:blip r:embed="R7c1be2d6208848c7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cIda5f350fed264485d"/>
          </p:cNvPr>
          <p:cNvPicPr preferRelativeResize="0"/>
          <p:nvPr/>
        </p:nvPicPr>
        <p:blipFill rotWithShape="1">
          <a:blip r:embed="Rd4d4b4b2f66b4388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cId2b360ba6488c44dd"/>
          </p:cNvPr>
          <p:cNvPicPr preferRelativeResize="0"/>
          <p:nvPr/>
        </p:nvPicPr>
        <p:blipFill rotWithShape="1">
          <a:blip r:embed="R2f1a181b3e2f4a56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cIde6fbc0bd850d485a"/>
          </p:cNvPr>
          <p:cNvPicPr preferRelativeResize="0"/>
          <p:nvPr/>
        </p:nvPicPr>
        <p:blipFill rotWithShape="1">
          <a:blip r:embed="R6a7e7049f56b4bb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cId4b4f906de08c49c1"/>
          </p:cNvPr>
          <p:cNvPicPr preferRelativeResize="0"/>
          <p:nvPr/>
        </p:nvPicPr>
        <p:blipFill rotWithShape="1">
          <a:blip r:embed="R104dc3c9bec3424f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cId6eb19ddaa69a4d98"/>
          </p:cNvPr>
          <p:cNvPicPr preferRelativeResize="0"/>
          <p:nvPr/>
        </p:nvPicPr>
        <p:blipFill rotWithShape="1">
          <a:blip r:embed="R2f199bd738a34a58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7">
            <a:hlinkClick r:id="rcId1f61fedba72b4645"/>
          </p:cNvPr>
          <p:cNvPicPr preferRelativeResize="0"/>
          <p:nvPr/>
        </p:nvPicPr>
        <p:blipFill rotWithShape="1">
          <a:blip r:embed="R675e453ff9af46a2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8">
            <a:hlinkClick r:id="rcId3d86ab511c184014"/>
          </p:cNvPr>
          <p:cNvPicPr preferRelativeResize="0"/>
          <p:nvPr/>
        </p:nvPicPr>
        <p:blipFill rotWithShape="1">
          <a:blip r:embed="Re3134114729348d9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9">
            <a:hlinkClick r:id="rcId36780885c36e49a9"/>
          </p:cNvPr>
          <p:cNvPicPr preferRelativeResize="0"/>
          <p:nvPr/>
        </p:nvPicPr>
        <p:blipFill rotWithShape="1">
          <a:blip r:embed="R070162c389b34892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0">
            <a:hlinkClick r:id="rcId5a18f186c74640e3"/>
          </p:cNvPr>
          <p:cNvPicPr preferRelativeResize="0"/>
          <p:nvPr/>
        </p:nvPicPr>
        <p:blipFill rotWithShape="1">
          <a:blip r:embed="Rf775f463f8304391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1">
            <a:hlinkClick r:id="rcId18dec68929e945be"/>
          </p:cNvPr>
          <p:cNvPicPr preferRelativeResize="0"/>
          <p:nvPr/>
        </p:nvPicPr>
        <p:blipFill rotWithShape="1">
          <a:blip r:embed="Re7566014c4634b9b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34147239cd460a" /><Relationship Type="http://schemas.openxmlformats.org/officeDocument/2006/relationships/slideLayout" Target="/ppt/slideLayouts/slideLayout1.xml" Id="R124a9f3f16ef42a2" /><Relationship Type="http://schemas.openxmlformats.org/officeDocument/2006/relationships/slideLayout" Target="/ppt/slideLayouts/slideLayout11.xml" Id="R0ee2faf880cc4a0f" /><Relationship Type="http://schemas.openxmlformats.org/officeDocument/2006/relationships/slideLayout" Target="/ppt/slideLayouts/slideLayout12.xml" Id="Rcc6a5544e13e40fd" /><Relationship Type="http://schemas.openxmlformats.org/officeDocument/2006/relationships/slideLayout" Target="/ppt/slideLayouts/slideLayout13.xml" Id="Rb6702c9825444a49" /><Relationship Type="http://schemas.openxmlformats.org/officeDocument/2006/relationships/slideLayout" Target="/ppt/slideLayouts/slideLayout15.xml" Id="Rfe7590e6017c4b55" /><Relationship Type="http://schemas.openxmlformats.org/officeDocument/2006/relationships/slideLayout" Target="/ppt/slideLayouts/slideLayout16.xml" Id="Rb03a166403864763" /><Relationship Type="http://schemas.openxmlformats.org/officeDocument/2006/relationships/slideLayout" Target="/ppt/slideLayouts/slideLayout17.xml" Id="R5fc32e2e894b4f95" /><Relationship Type="http://schemas.openxmlformats.org/officeDocument/2006/relationships/slideLayout" Target="/ppt/slideLayouts/slideLayout18.xml" Id="R7159faac34b5443c" /><Relationship Type="http://schemas.openxmlformats.org/officeDocument/2006/relationships/slideLayout" Target="/ppt/slideLayouts/slideLayout19.xml" Id="Rcfddccd5d1b442dc" /><Relationship Type="http://schemas.openxmlformats.org/officeDocument/2006/relationships/slideLayout" Target="/ppt/slideLayouts/slideLayout20.xml" Id="Rc81af0508b0b410e" /><Relationship Type="http://schemas.openxmlformats.org/officeDocument/2006/relationships/slideLayout" Target="/ppt/slideLayouts/slideLayout21.xml" Id="Rb9b6bb7b5c104d30" /><Relationship Type="http://schemas.openxmlformats.org/officeDocument/2006/relationships/slideLayout" Target="/ppt/slideLayouts/slideLayout22.xml" Id="Rd0b7eaebb4df4d13" /><Relationship Type="http://schemas.openxmlformats.org/officeDocument/2006/relationships/slideLayout" Target="/ppt/slideLayouts/slideLayout23.xml" Id="R3f980774b94a46d4" /><Relationship Type="http://schemas.openxmlformats.org/officeDocument/2006/relationships/slideLayout" Target="/ppt/slideLayouts/slideLayout24.xml" Id="R9134f5c347214874" /><Relationship Type="http://schemas.openxmlformats.org/officeDocument/2006/relationships/slideLayout" Target="/ppt/slideLayouts/slideLayout25.xml" Id="R9db6888f8ef44224"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124a9f3f16ef42a2"/>
    <p:sldLayoutId id="2147483659" r:id="R0ee2faf880cc4a0f"/>
    <p:sldLayoutId id="2147483660" r:id="Rcc6a5544e13e40fd"/>
    <p:sldLayoutId id="2147483661" r:id="Rb6702c9825444a49"/>
    <p:sldLayoutId id="2147483663" r:id="Rfe7590e6017c4b55"/>
    <p:sldLayoutId id="2147483664" r:id="Rb03a166403864763"/>
    <p:sldLayoutId id="2147483665" r:id="R5fc32e2e894b4f95"/>
    <p:sldLayoutId id="2147483666" r:id="R7159faac34b5443c"/>
    <p:sldLayoutId id="2147483667" r:id="Rcfddccd5d1b442dc"/>
    <p:sldLayoutId id="2147483668" r:id="Rc81af0508b0b410e"/>
    <p:sldLayoutId id="2147483669" r:id="Rb9b6bb7b5c104d30"/>
    <p:sldLayoutId id="2147483670" r:id="Rd0b7eaebb4df4d13"/>
    <p:sldLayoutId id="2147483671" r:id="R3f980774b94a46d4"/>
    <p:sldLayoutId id="2147483672" r:id="R9134f5c347214874"/>
    <p:sldLayoutId id="2147483673" r:id="R9db6888f8ef442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png" Id="Rc9034dfc85b54bef" /><Relationship Type="http://schemas.openxmlformats.org/officeDocument/2006/relationships/image" Target="/ppt/media/image3.png" Id="Rdcde42ebd1d84bbc" /><Relationship Type="http://schemas.openxmlformats.org/officeDocument/2006/relationships/image" Target="/ppt/media/image4.png" Id="Ra032baaa7963413d" /><Relationship Type="http://schemas.openxmlformats.org/officeDocument/2006/relationships/notesSlide" Target="/ppt/notesSlides/notesSlide1.xml" Id="R530916b01bbe4c9f" /><Relationship Type="http://schemas.openxmlformats.org/officeDocument/2006/relationships/slideLayout" Target="/ppt/slideLayouts/slideLayout1.xml" Id="R91bd086f43fc4f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5.png" Id="Rac889e7ec1364b91" /><Relationship Type="http://schemas.openxmlformats.org/officeDocument/2006/relationships/image" Target="/ppt/media/image.jpg" Id="R369a81a4a31c4016" /><Relationship Type="http://schemas.openxmlformats.org/officeDocument/2006/relationships/image" Target="/ppt/media/image2.jpg" Id="Red2821f4481946dd" /><Relationship Type="http://schemas.openxmlformats.org/officeDocument/2006/relationships/image" Target="/ppt/media/image3.jpg" Id="R0b4d0e5b64804843" /><Relationship Type="http://schemas.openxmlformats.org/officeDocument/2006/relationships/notesSlide" Target="/ppt/notesSlides/notesSlide2.xml" Id="R156d1b17ca5f47dd" /><Relationship Type="http://schemas.openxmlformats.org/officeDocument/2006/relationships/slideLayout" Target="/ppt/slideLayouts/slideLayout11.xml" Id="R64b61fb1618242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6.png" Id="R66a712fbdb604dbb" /><Relationship Type="http://schemas.openxmlformats.org/officeDocument/2006/relationships/notesSlide" Target="/ppt/notesSlides/notesSlide3.xml" Id="R9d2563d39fb7459a" /><Relationship Type="http://schemas.openxmlformats.org/officeDocument/2006/relationships/slideLayout" Target="/ppt/slideLayouts/slideLayout12.xml" Id="R198ff6a55c56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7.png" Id="Ra7226c8f978e4669" /><Relationship Type="http://schemas.openxmlformats.org/officeDocument/2006/relationships/notesSlide" Target="/ppt/notesSlides/notesSlide4.xml" Id="R5f479c339b9045c0" /><Relationship Type="http://schemas.openxmlformats.org/officeDocument/2006/relationships/slideLayout" Target="/ppt/slideLayouts/slideLayout13.xml" Id="Rd242ad9d0d0b41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629d22c0dbd74e58" /><Relationship Type="http://schemas.openxmlformats.org/officeDocument/2006/relationships/slideLayout" Target="/ppt/slideLayouts/slideLayout17.xml" Id="Rfd09b4c7a08746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8.png" Id="Rf3bca29a8e534929" /><Relationship Type="http://schemas.openxmlformats.org/officeDocument/2006/relationships/image" Target="/ppt/media/image9.png" Id="Rc216c73c0eed469f" /><Relationship Type="http://schemas.openxmlformats.org/officeDocument/2006/relationships/image" Target="/ppt/media/image10.png" Id="R317c6c46fa70442b" /><Relationship Type="http://schemas.openxmlformats.org/officeDocument/2006/relationships/image" Target="/ppt/media/image11.png" Id="R486b84dbac47400b" /><Relationship Type="http://schemas.openxmlformats.org/officeDocument/2006/relationships/image" Target="/ppt/media/image12.png" Id="R3485dece74ae4ff7" /><Relationship Type="http://schemas.openxmlformats.org/officeDocument/2006/relationships/image" Target="/ppt/media/image13.png" Id="R8874272a560a4d55" /><Relationship Type="http://schemas.openxmlformats.org/officeDocument/2006/relationships/notesSlide" Target="/ppt/notesSlides/notesSlide6.xml" Id="Rbfb94b682c5f4b98" /><Relationship Type="http://schemas.openxmlformats.org/officeDocument/2006/relationships/slideLayout" Target="/ppt/slideLayouts/slideLayout18.xml" Id="R69042937a45240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4.png" Id="Rb792ffe37a8240b3" /><Relationship Type="http://schemas.openxmlformats.org/officeDocument/2006/relationships/notesSlide" Target="/ppt/notesSlides/notesSlide7.xml" Id="R16ef8d330ffe44d8" /><Relationship Type="http://schemas.openxmlformats.org/officeDocument/2006/relationships/slideLayout" Target="/ppt/slideLayouts/slideLayout19.xml" Id="Rbca8ae2a566844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8a68ba3f6f0d4266" /><Relationship Type="http://schemas.openxmlformats.org/officeDocument/2006/relationships/slideLayout" Target="/ppt/slideLayouts/slideLayout20.xml" Id="Rdc04d1197da54c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5.png" Id="R9fe8325f45b14f3a" /><Relationship Type="http://schemas.openxmlformats.org/officeDocument/2006/relationships/notesSlide" Target="/ppt/notesSlides/notesSlide9.xml" Id="Rb4f9a3339c544d2d" /><Relationship Type="http://schemas.openxmlformats.org/officeDocument/2006/relationships/slideLayout" Target="/ppt/slideLayouts/slideLayout16.xml" Id="R47b675c0c3fb43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6.png" Id="R042f52d1f6a74a77" /><Relationship Type="http://schemas.openxmlformats.org/officeDocument/2006/relationships/notesSlide" Target="/ppt/notesSlides/notesSlide10.xml" Id="R99d615a1710142f1" /><Relationship Type="http://schemas.openxmlformats.org/officeDocument/2006/relationships/slideLayout" Target="/ppt/slideLayouts/slideLayout15.xml" Id="Rc79c1c8d18a448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7.png" Id="Rba73595857ad4ff9" /><Relationship Type="http://schemas.openxmlformats.org/officeDocument/2006/relationships/notesSlide" Target="/ppt/notesSlides/notesSlide11.xml" Id="R9a2ade3930c64781" /><Relationship Type="http://schemas.openxmlformats.org/officeDocument/2006/relationships/slideLayout" Target="/ppt/slideLayouts/slideLayout21.xml" Id="R3beefb2c1a6f46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notesSlide" Target="/ppt/notesSlides/notesSlide12.xml" Id="Rac6e87c3ef04495e" /><Relationship Type="http://schemas.openxmlformats.org/officeDocument/2006/relationships/slideLayout" Target="/ppt/slideLayouts/slideLayout22.xml" Id="Raef5faeb303244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efa0f70d7ebe476b" /><Relationship Type="http://schemas.openxmlformats.org/officeDocument/2006/relationships/slideLayout" Target="/ppt/slideLayouts/slideLayout23.xml" Id="R7a14fc904cbb49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18.png" Id="Rbb2467b623b34ae3" /><Relationship Type="http://schemas.openxmlformats.org/officeDocument/2006/relationships/image" Target="/ppt/media/image19.png" Id="Rffa25d12b3b84d80" /><Relationship Type="http://schemas.openxmlformats.org/officeDocument/2006/relationships/image" Target="/ppt/media/image20.png" Id="Re39c3d30124849a8" /><Relationship Type="http://schemas.openxmlformats.org/officeDocument/2006/relationships/image" Target="/ppt/media/image21.png" Id="Rb050d1be5491474a" /><Relationship Type="http://schemas.openxmlformats.org/officeDocument/2006/relationships/image" Target="/ppt/media/image22.png" Id="R241b14aa1d034331" /><Relationship Type="http://schemas.openxmlformats.org/officeDocument/2006/relationships/notesSlide" Target="/ppt/notesSlides/notesSlide14.xml" Id="R1b3d03368d274a40" /><Relationship Type="http://schemas.openxmlformats.org/officeDocument/2006/relationships/slideLayout" Target="/ppt/slideLayouts/slideLayout24.xml" Id="Rba7afa7f972d46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3.png" Id="Rcf44a7d90ee3483e" /><Relationship Type="http://schemas.openxmlformats.org/officeDocument/2006/relationships/notesSlide" Target="/ppt/notesSlides/notesSlide15.xml" Id="Re8349118cb204dae" /><Relationship Type="http://schemas.openxmlformats.org/officeDocument/2006/relationships/slideLayout" Target="/ppt/slideLayouts/slideLayout25.xml" Id="Ra4bd1aae6dc04558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p11"/>
          <p:cNvPicPr preferRelativeResize="0"/>
          <p:nvPr/>
        </p:nvPicPr>
        <p:blipFill rotWithShape="1">
          <a:blip r:embed="Rc9034dfc85b54bef">
            <a:alphaModFix amt="90000"/>
          </a:blip>
          <a:srcRect b="0" l="0" r="0" t="0"/>
          <a:stretch/>
        </p:blipFill>
        <p:spPr>
          <a:xfrm>
            <a:off x="5758950" y="0"/>
            <a:ext cx="33850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/>
          <p:nvPr/>
        </p:nvSpPr>
        <p:spPr>
          <a:xfrm>
            <a:off x="635769" y="2225570"/>
            <a:ext cx="4443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b="1" i="0" lang="en-US" sz="27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MUSH Marketing Strategy</a:t>
            </a:r>
            <a:r>
              <a:rPr b="1" i="0" lang="en-US" sz="275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endParaRPr b="1" i="0" sz="27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496119" y="2774483"/>
            <a:ext cx="4722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b="1" i="1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-Building a Functional Breakfast Brand for Long-Term Growth</a:t>
            </a:r>
            <a:endParaRPr b="1" i="1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1"/>
          <p:cNvSpPr/>
          <p:nvPr/>
        </p:nvSpPr>
        <p:spPr>
          <a:xfrm>
            <a:off x="733250" y="4522325"/>
            <a:ext cx="4399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by: Shreyash Lokhare | Prasanna Saudagar | Kunal Pingale</a:t>
            </a:r>
            <a:endParaRPr b="1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1"/>
          <p:cNvPicPr preferRelativeResize="0"/>
          <p:nvPr/>
        </p:nvPicPr>
        <p:blipFill rotWithShape="1">
          <a:blip r:embed="Rdcde42ebd1d84bbc">
            <a:alphaModFix amt="76000"/>
          </a:blip>
          <a:srcRect b="0" l="0" r="0" t="0"/>
          <a:stretch/>
        </p:blipFill>
        <p:spPr>
          <a:xfrm>
            <a:off x="1789062" y="231300"/>
            <a:ext cx="3711813" cy="1212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 title="UMass_Seal_Medium_PMS_202.png"/>
          <p:cNvPicPr preferRelativeResize="0"/>
          <p:nvPr/>
        </p:nvPicPr>
        <p:blipFill rotWithShape="1">
          <a:blip r:embed="Ra032baaa7963413d">
            <a:alphaModFix/>
          </a:blip>
          <a:srcRect b="0" l="0" r="0" t="0"/>
          <a:stretch/>
        </p:blipFill>
        <p:spPr>
          <a:xfrm>
            <a:off x="325250" y="105901"/>
            <a:ext cx="1384200" cy="13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2420969" y="204318"/>
            <a:ext cx="3944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750"/>
              <a:buFont typeface="Arial"/>
              <a:buNone/>
            </a:pP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Executive Cover Memo</a:t>
            </a:r>
            <a:endParaRPr b="1" i="0" sz="205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96119" y="1143298"/>
            <a:ext cx="2622724" cy="3583409"/>
          </a:xfrm>
          <a:prstGeom prst="roundRect">
            <a:avLst>
              <a:gd fmla="val 2270" name="adj"/>
            </a:avLst>
          </a:prstGeom>
          <a:solidFill>
            <a:srgbClr val="F2EDE5"/>
          </a:solidFill>
          <a:ln cap="flat" cmpd="sng" w="9525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42640" y="1289819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ac889e7ec1364b91">
            <a:alphaModFix/>
          </a:blip>
          <a:srcRect b="0" l="0" r="0" t="0"/>
          <a:stretch/>
        </p:blipFill>
        <p:spPr>
          <a:xfrm>
            <a:off x="759619" y="1406723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642640" y="1856854"/>
            <a:ext cx="232968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Important Recommendation</a:t>
            </a:r>
            <a:endParaRPr b="1" i="0" sz="1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2525" y="2493175"/>
            <a:ext cx="23298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Reposition MUSH from a "healthy lifestyle snack" to a "complete functional breakfast solution."</a:t>
            </a:r>
            <a:endParaRPr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260601" y="1143298"/>
            <a:ext cx="2622724" cy="3583409"/>
          </a:xfrm>
          <a:prstGeom prst="roundRect">
            <a:avLst>
              <a:gd fmla="val 2270" name="adj"/>
            </a:avLst>
          </a:prstGeom>
          <a:solidFill>
            <a:srgbClr val="F2EDE5"/>
          </a:solidFill>
          <a:ln cap="flat" cmpd="sng" w="9525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407122" y="1289819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ac889e7ec1364b91">
            <a:alphaModFix/>
          </a:blip>
          <a:srcRect b="0" l="0" r="0" t="0"/>
          <a:stretch/>
        </p:blipFill>
        <p:spPr>
          <a:xfrm>
            <a:off x="3524101" y="1406723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3407122" y="1856854"/>
            <a:ext cx="231621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Action is Needed Now</a:t>
            </a:r>
            <a:endParaRPr b="1" i="0" sz="1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407125" y="2414600"/>
            <a:ext cx="23298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Competitors like Kodiak and Oats Overnight are stronger in protein and fullness. Without strengthening functional positioning, MUSH risks losing repeat customers after trial.</a:t>
            </a:r>
            <a:endParaRPr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025083" y="1143298"/>
            <a:ext cx="2622724" cy="3583409"/>
          </a:xfrm>
          <a:prstGeom prst="roundRect">
            <a:avLst>
              <a:gd fmla="val 2270" name="adj"/>
            </a:avLst>
          </a:prstGeom>
          <a:solidFill>
            <a:srgbClr val="F2EDE5"/>
          </a:solidFill>
          <a:ln cap="flat" cmpd="sng" w="9525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171605" y="1289819"/>
            <a:ext cx="425276" cy="425276"/>
          </a:xfrm>
          <a:prstGeom prst="roundRect">
            <a:avLst>
              <a:gd fmla="val 13436988" name="adj"/>
            </a:avLst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2"/>
          <p:cNvPicPr preferRelativeResize="0"/>
          <p:nvPr/>
        </p:nvPicPr>
        <p:blipFill rotWithShape="1">
          <a:blip r:embed="R369a81a4a31c4016">
            <a:alphaModFix/>
          </a:blip>
          <a:srcRect b="0" l="0" r="0" t="0"/>
          <a:stretch/>
        </p:blipFill>
        <p:spPr>
          <a:xfrm>
            <a:off x="6171601" y="1234298"/>
            <a:ext cx="470900" cy="470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6171605" y="185685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</a:t>
            </a:r>
            <a:endParaRPr b="1" i="0" sz="13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365075" y="2383175"/>
            <a:ext cx="2136300" cy="21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17145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 messaging toward protein, fullness, and morning energy</a:t>
            </a:r>
            <a:endParaRPr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17145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sampling and influencer campaigns to drive trial</a:t>
            </a:r>
            <a:endParaRPr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17145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subscription and loyalty programs</a:t>
            </a:r>
            <a:endParaRPr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17145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conversion, repeat purchase, and customer lifetime value</a:t>
            </a:r>
            <a:endParaRPr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arget icon" id="72" name="Google Shape;72;p2"/>
          <p:cNvPicPr preferRelativeResize="0"/>
          <p:nvPr/>
        </p:nvPicPr>
        <p:blipFill>
          <a:blip r:embed="Red2821f4481946dd">
            <a:alphaModFix/>
          </a:blip>
          <a:stretch>
            <a:fillRect/>
          </a:stretch>
        </p:blipFill>
        <p:spPr>
          <a:xfrm>
            <a:off x="680625" y="1289750"/>
            <a:ext cx="425275" cy="42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ution sign" id="73" name="Google Shape;73;p2"/>
          <p:cNvPicPr preferRelativeResize="0"/>
          <p:nvPr/>
        </p:nvPicPr>
        <p:blipFill>
          <a:blip r:embed="R0b4d0e5b64804843">
            <a:alphaModFix/>
          </a:blip>
          <a:stretch>
            <a:fillRect/>
          </a:stretch>
        </p:blipFill>
        <p:spPr>
          <a:xfrm>
            <a:off x="3361499" y="1234301"/>
            <a:ext cx="470900" cy="4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2232809" y="244610"/>
            <a:ext cx="5126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050"/>
              <a:buFont typeface="Arial"/>
              <a:buNone/>
            </a:pP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Situation Assessment</a:t>
            </a:r>
            <a:r>
              <a:rPr b="1" lang="en-US" sz="2050" u="sng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Context</a:t>
            </a:r>
            <a:endParaRPr b="1" i="0" sz="205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03750" y="1003050"/>
            <a:ext cx="2058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00"/>
              <a:buFont typeface="Arial"/>
              <a:buNone/>
            </a:pPr>
            <a:r>
              <a:rPr b="1" lang="en-US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Breakfast Market Shift</a:t>
            </a:r>
            <a:endParaRPr b="1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03750" y="1403550"/>
            <a:ext cx="30597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"/>
              <a:buFont typeface="Arial"/>
              <a:buNone/>
            </a:pPr>
            <a:r>
              <a:rPr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U.S. breakfast market is moving toward products that are fast, healthy, and functional. Consumers want breakfast that supports their lifestyle and keeps them full.</a:t>
            </a:r>
            <a:endParaRPr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903759" y="2328926"/>
            <a:ext cx="1329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00"/>
              <a:buFont typeface="Arial"/>
              <a:buNone/>
            </a:pPr>
            <a:r>
              <a:rPr b="1" i="0" lang="en-US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Insight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03750" y="2702938"/>
            <a:ext cx="31968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opportunity is not just in selling oats. The opportunity is in solving a daily morning problem: </a:t>
            </a:r>
            <a:r>
              <a:rPr b="1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"I need something fast, healthy, and filling before my day starts."</a:t>
            </a:r>
            <a:endParaRPr b="1" i="1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66a712fbdb604dbb">
            <a:alphaModFix/>
          </a:blip>
          <a:srcRect b="0" l="0" r="0" t="0"/>
          <a:stretch/>
        </p:blipFill>
        <p:spPr>
          <a:xfrm>
            <a:off x="4522150" y="870500"/>
            <a:ext cx="3943201" cy="28066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1216000" y="3893046"/>
            <a:ext cx="1329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High-Protein Foods</a:t>
            </a:r>
            <a:endParaRPr b="1"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216000" y="4106912"/>
            <a:ext cx="330614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"/>
              <a:buFont typeface="Arial"/>
              <a:buNone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Consumers increasingly prioritizing protein-rich options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934024" y="3893046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Convenience Driver</a:t>
            </a:r>
            <a:endParaRPr b="1"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934024" y="4106912"/>
            <a:ext cx="330614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"/>
              <a:buFont typeface="Arial"/>
              <a:buNone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factor in food choice decisions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216000" y="4451747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Breakfast Skipping</a:t>
            </a:r>
            <a:endParaRPr b="1"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216000" y="4665613"/>
            <a:ext cx="330614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"/>
              <a:buFont typeface="Arial"/>
              <a:buNone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young consumers skip breakfast due to lack of time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934024" y="4451747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Labe</a:t>
            </a:r>
            <a:r>
              <a:rPr b="0" i="0" lang="en-US" sz="10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00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4934024" y="4665613"/>
            <a:ext cx="330614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"/>
              <a:buFont typeface="Arial"/>
              <a:buNone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nutrition becoming more important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2829500" y="139500"/>
            <a:ext cx="2762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250"/>
              <a:buFont typeface="Arial"/>
              <a:buNone/>
            </a:pP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Landscape</a:t>
            </a:r>
            <a:endParaRPr b="1" i="0" sz="205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98066" y="781645"/>
            <a:ext cx="2423145" cy="287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800"/>
              <a:buFont typeface="Arial"/>
              <a:buNone/>
            </a:pPr>
            <a:r>
              <a:rPr b="1" i="0" lang="en-US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MUSH vs Competitors - 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98066" y="1209973"/>
            <a:ext cx="7947794" cy="1741884"/>
          </a:xfrm>
          <a:prstGeom prst="roundRect">
            <a:avLst>
              <a:gd fmla="val 277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02825" y="1214722"/>
            <a:ext cx="7938300" cy="3600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18021" y="1275606"/>
            <a:ext cx="17520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1"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</a:t>
            </a:r>
            <a:endParaRPr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704951" y="1275606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1"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MUSH</a:t>
            </a:r>
            <a:endParaRPr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689500" y="1275606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1"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Oats Overnight</a:t>
            </a:r>
            <a:endParaRPr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674048" y="1275606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1" i="0" lang="en-US" sz="10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Kodiak</a:t>
            </a:r>
            <a:endParaRPr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02828" y="1503462"/>
            <a:ext cx="7938269" cy="28872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718021" y="1564332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Protein</a:t>
            </a:r>
            <a:endParaRPr b="0" i="0" sz="90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2704951" y="1564332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b="0" i="0" sz="90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4689500" y="1564332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900" u="none" cap="none" strike="noStrike"/>
          </a:p>
        </p:txBody>
      </p:sp>
      <p:sp>
        <p:nvSpPr>
          <p:cNvPr id="110" name="Google Shape;110;p4"/>
          <p:cNvSpPr/>
          <p:nvPr/>
        </p:nvSpPr>
        <p:spPr>
          <a:xfrm>
            <a:off x="6674048" y="1564332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9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602828" y="1792188"/>
            <a:ext cx="7938269" cy="28872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718021" y="1853059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Convenience</a:t>
            </a:r>
            <a:endParaRPr b="0" i="0" sz="90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2704951" y="1853059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90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4689500" y="1853059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90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6674048" y="1853059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90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602828" y="2080915"/>
            <a:ext cx="7938269" cy="28872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18021" y="2141786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Clean Label</a:t>
            </a:r>
            <a:endParaRPr b="0" i="0" sz="900" u="none" cap="none" strike="noStrike"/>
          </a:p>
        </p:txBody>
      </p:sp>
      <p:sp>
        <p:nvSpPr>
          <p:cNvPr id="118" name="Google Shape;118;p4"/>
          <p:cNvSpPr/>
          <p:nvPr/>
        </p:nvSpPr>
        <p:spPr>
          <a:xfrm>
            <a:off x="2704951" y="2141786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Strong</a:t>
            </a:r>
            <a:endParaRPr b="0" i="0" sz="90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4689500" y="2141786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900" u="none" cap="none" strike="noStrike"/>
          </a:p>
        </p:txBody>
      </p:sp>
      <p:sp>
        <p:nvSpPr>
          <p:cNvPr id="120" name="Google Shape;120;p4"/>
          <p:cNvSpPr/>
          <p:nvPr/>
        </p:nvSpPr>
        <p:spPr>
          <a:xfrm>
            <a:off x="6674048" y="2141786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900" u="none" cap="none" strike="noStrike"/>
          </a:p>
        </p:txBody>
      </p:sp>
      <p:sp>
        <p:nvSpPr>
          <p:cNvPr id="121" name="Google Shape;121;p4"/>
          <p:cNvSpPr/>
          <p:nvPr/>
        </p:nvSpPr>
        <p:spPr>
          <a:xfrm>
            <a:off x="602828" y="2369641"/>
            <a:ext cx="7938269" cy="28872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718021" y="2430512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Satiety</a:t>
            </a:r>
            <a:endParaRPr b="0" i="0" sz="900" u="none" cap="none" strike="noStrike"/>
          </a:p>
        </p:txBody>
      </p:sp>
      <p:sp>
        <p:nvSpPr>
          <p:cNvPr id="123" name="Google Shape;123;p4"/>
          <p:cNvSpPr/>
          <p:nvPr/>
        </p:nvSpPr>
        <p:spPr>
          <a:xfrm>
            <a:off x="2704951" y="2430512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Medium/Low</a:t>
            </a:r>
            <a:endParaRPr b="0" i="0" sz="900" u="none" cap="none" strike="noStrike"/>
          </a:p>
        </p:txBody>
      </p:sp>
      <p:sp>
        <p:nvSpPr>
          <p:cNvPr id="124" name="Google Shape;124;p4"/>
          <p:cNvSpPr/>
          <p:nvPr/>
        </p:nvSpPr>
        <p:spPr>
          <a:xfrm>
            <a:off x="4689500" y="2430512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90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6674048" y="2430512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90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602828" y="2658368"/>
            <a:ext cx="7938269" cy="28872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18021" y="2719239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Price Value</a:t>
            </a:r>
            <a:endParaRPr b="0" i="0" sz="900" u="none" cap="none" strike="noStrike"/>
          </a:p>
        </p:txBody>
      </p:sp>
      <p:sp>
        <p:nvSpPr>
          <p:cNvPr id="128" name="Google Shape;128;p4"/>
          <p:cNvSpPr/>
          <p:nvPr/>
        </p:nvSpPr>
        <p:spPr>
          <a:xfrm>
            <a:off x="2704951" y="2719239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Weak</a:t>
            </a:r>
            <a:endParaRPr b="0" i="0" sz="900" u="none" cap="none" strike="noStrike"/>
          </a:p>
        </p:txBody>
      </p:sp>
      <p:sp>
        <p:nvSpPr>
          <p:cNvPr id="129" name="Google Shape;129;p4"/>
          <p:cNvSpPr/>
          <p:nvPr/>
        </p:nvSpPr>
        <p:spPr>
          <a:xfrm>
            <a:off x="4689500" y="2719239"/>
            <a:ext cx="1749549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900" u="none" cap="none" strike="noStrike"/>
          </a:p>
        </p:txBody>
      </p:sp>
      <p:sp>
        <p:nvSpPr>
          <p:cNvPr id="130" name="Google Shape;130;p4"/>
          <p:cNvSpPr/>
          <p:nvPr/>
        </p:nvSpPr>
        <p:spPr>
          <a:xfrm>
            <a:off x="6674048" y="2719239"/>
            <a:ext cx="1751930" cy="166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Strong</a:t>
            </a:r>
            <a:endParaRPr b="0" i="0" sz="90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598066" y="3150617"/>
            <a:ext cx="1737420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MUSH Owns Today</a:t>
            </a:r>
            <a:endParaRPr b="1"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98066" y="3424089"/>
            <a:ext cx="3833366" cy="56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ingredients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Ready-to-eat convenience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Wellness lifestyle appeal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17182" y="3150617"/>
            <a:ext cx="1528167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MUSH Is Weak</a:t>
            </a:r>
            <a:endParaRPr b="1"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17175" y="3424100"/>
            <a:ext cx="3833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Protein content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Fullness/satiety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breakfast credibility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Price-to-value perception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98104" y="4462770"/>
            <a:ext cx="7947900" cy="430800"/>
          </a:xfrm>
          <a:prstGeom prst="roundRect">
            <a:avLst>
              <a:gd fmla="val 1122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4"/>
          <p:cNvPicPr preferRelativeResize="0"/>
          <p:nvPr/>
        </p:nvPicPr>
        <p:blipFill rotWithShape="1">
          <a:blip r:embed="Ra7226c8f978e4669">
            <a:alphaModFix/>
          </a:blip>
          <a:srcRect b="0" l="0" r="0" t="0"/>
          <a:stretch/>
        </p:blipFill>
        <p:spPr>
          <a:xfrm>
            <a:off x="718016" y="4564669"/>
            <a:ext cx="283850" cy="2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1082495" y="4594632"/>
            <a:ext cx="7458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Gap:</a:t>
            </a:r>
            <a:r>
              <a:rPr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MUSH is attractive, but not yet defensible as a complete breakfast solution</a:t>
            </a:r>
            <a:r>
              <a:rPr b="1" i="1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i="1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3186875" y="115650"/>
            <a:ext cx="3727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650"/>
              <a:buFont typeface="Arial"/>
              <a:buNone/>
            </a:pP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Consumer Segment</a:t>
            </a:r>
            <a:endParaRPr b="1" i="0" sz="205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72901" y="1182291"/>
            <a:ext cx="4034700" cy="807600"/>
          </a:xfrm>
          <a:prstGeom prst="roundRect">
            <a:avLst>
              <a:gd fmla="val 11321" name="adj"/>
            </a:avLst>
          </a:prstGeom>
          <a:solidFill>
            <a:srgbClr val="FDFBF7"/>
          </a:solidFill>
          <a:ln cap="flat" cmpd="sng" w="19050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53851" y="1182291"/>
            <a:ext cx="76200" cy="807690"/>
          </a:xfrm>
          <a:prstGeom prst="roundRect">
            <a:avLst>
              <a:gd fmla="val 74477" name="adj"/>
            </a:avLst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84163" y="1336402"/>
            <a:ext cx="16889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Target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84163" y="1624757"/>
            <a:ext cx="3669357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Busy, health-conscious students and young professionals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636368" y="1182291"/>
            <a:ext cx="4034730" cy="807690"/>
          </a:xfrm>
          <a:prstGeom prst="roundRect">
            <a:avLst>
              <a:gd fmla="val 11321" name="adj"/>
            </a:avLst>
          </a:prstGeom>
          <a:solidFill>
            <a:srgbClr val="FDFBF7"/>
          </a:solidFill>
          <a:ln cap="flat" cmpd="sng" w="19050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617318" y="1182291"/>
            <a:ext cx="76200" cy="807690"/>
          </a:xfrm>
          <a:prstGeom prst="roundRect">
            <a:avLst>
              <a:gd fmla="val 74477" name="adj"/>
            </a:avLst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847630" y="1336402"/>
            <a:ext cx="16889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Demographics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847630" y="1624757"/>
            <a:ext cx="3669357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Age: 18–34</a:t>
            </a:r>
            <a:endParaRPr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72901" y="2118717"/>
            <a:ext cx="4034730" cy="807690"/>
          </a:xfrm>
          <a:prstGeom prst="roundRect">
            <a:avLst>
              <a:gd fmla="val 11321" name="adj"/>
            </a:avLst>
          </a:prstGeom>
          <a:solidFill>
            <a:srgbClr val="FDFBF7"/>
          </a:solidFill>
          <a:ln cap="flat" cmpd="sng" w="19050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53851" y="2118717"/>
            <a:ext cx="76200" cy="807690"/>
          </a:xfrm>
          <a:prstGeom prst="roundRect">
            <a:avLst>
              <a:gd fmla="val 74477" name="adj"/>
            </a:avLst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84163" y="2272829"/>
            <a:ext cx="16889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Lifestyle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84163" y="2561183"/>
            <a:ext cx="3669357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Busy mornings, classes, work, gym, commuting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636368" y="2118717"/>
            <a:ext cx="4034730" cy="807690"/>
          </a:xfrm>
          <a:prstGeom prst="roundRect">
            <a:avLst>
              <a:gd fmla="val 11321" name="adj"/>
            </a:avLst>
          </a:prstGeom>
          <a:solidFill>
            <a:srgbClr val="FDFBF7"/>
          </a:solidFill>
          <a:ln cap="flat" cmpd="sng" w="19050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617318" y="2118717"/>
            <a:ext cx="76200" cy="807690"/>
          </a:xfrm>
          <a:prstGeom prst="roundRect">
            <a:avLst>
              <a:gd fmla="val 74477" name="adj"/>
            </a:avLst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847630" y="2272829"/>
            <a:ext cx="16889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847630" y="2561183"/>
            <a:ext cx="3669357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 skips breakfast or chooses quick alternatives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72901" y="3055144"/>
            <a:ext cx="4034730" cy="1018803"/>
          </a:xfrm>
          <a:prstGeom prst="roundRect">
            <a:avLst>
              <a:gd fmla="val 8975" name="adj"/>
            </a:avLst>
          </a:prstGeom>
          <a:solidFill>
            <a:srgbClr val="FDFBF7"/>
          </a:solidFill>
          <a:ln cap="flat" cmpd="sng" w="19050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53851" y="3055144"/>
            <a:ext cx="76200" cy="1018803"/>
          </a:xfrm>
          <a:prstGeom prst="roundRect">
            <a:avLst>
              <a:gd fmla="val 74477" name="adj"/>
            </a:avLst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84163" y="3209255"/>
            <a:ext cx="16889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 Habits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84163" y="3497610"/>
            <a:ext cx="3669357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nstagram, TikTok, influencer content, online reviews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636368" y="3055144"/>
            <a:ext cx="4034730" cy="1018803"/>
          </a:xfrm>
          <a:prstGeom prst="roundRect">
            <a:avLst>
              <a:gd fmla="val 8975" name="adj"/>
            </a:avLst>
          </a:prstGeom>
          <a:solidFill>
            <a:srgbClr val="FDFBF7"/>
          </a:solidFill>
          <a:ln cap="flat" cmpd="sng" w="19050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617318" y="3055144"/>
            <a:ext cx="76200" cy="1018803"/>
          </a:xfrm>
          <a:prstGeom prst="roundRect">
            <a:avLst>
              <a:gd fmla="val 74477" name="adj"/>
            </a:avLst>
          </a:prstGeom>
          <a:solidFill>
            <a:srgbClr val="E6DE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847630" y="3209255"/>
            <a:ext cx="1688976" cy="211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Purchase Need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847630" y="3497610"/>
            <a:ext cx="3669357" cy="42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Fast, tasty, high-protein, filling, clean, and affordable enough for repeat use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72900" y="4279925"/>
            <a:ext cx="81981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9C9283"/>
              </a:buClr>
              <a:buSzPts val="1050"/>
              <a:buFont typeface="Arial"/>
              <a:buNone/>
            </a:pPr>
            <a:r>
              <a:rPr b="1" i="1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Segment Matters:</a:t>
            </a:r>
            <a:r>
              <a:rPr b="1" i="1" lang="en-US" sz="11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group feels the breakfast problem almost every day. They want convenience, but they also want nutrition that feels worth the price.</a:t>
            </a:r>
            <a:endParaRPr b="1" i="1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2347924" y="112949"/>
            <a:ext cx="5088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150"/>
              <a:buFont typeface="Arial"/>
              <a:buNone/>
            </a:pP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 Journey &amp; Decision Making</a:t>
            </a:r>
            <a:endParaRPr b="1" i="0" sz="205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75" name="Google Shape;175;p6"/>
          <p:cNvPicPr preferRelativeResize="0"/>
          <p:nvPr/>
        </p:nvPicPr>
        <p:blipFill rotWithShape="1">
          <a:blip r:embed="Rf3bca29a8e534929">
            <a:alphaModFix/>
          </a:blip>
          <a:srcRect b="0" l="0" r="0" t="0"/>
          <a:stretch/>
        </p:blipFill>
        <p:spPr>
          <a:xfrm>
            <a:off x="750912" y="839912"/>
            <a:ext cx="553715" cy="66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1391096" y="950640"/>
            <a:ext cx="1404938" cy="17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Recognition</a:t>
            </a:r>
            <a:endParaRPr b="1" i="0" sz="1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391096" y="1175519"/>
            <a:ext cx="70020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Hungry, rushed, need energy quickly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c216c73c0eed469f">
            <a:alphaModFix/>
          </a:blip>
          <a:srcRect b="0" l="0" r="0" t="0"/>
          <a:stretch/>
        </p:blipFill>
        <p:spPr>
          <a:xfrm>
            <a:off x="750912" y="1504429"/>
            <a:ext cx="553715" cy="66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1391096" y="1615157"/>
            <a:ext cx="1384399" cy="17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Search</a:t>
            </a:r>
            <a:endParaRPr b="1" i="0" sz="1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391096" y="1840037"/>
            <a:ext cx="7001917" cy="1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Instagram, TikTok, influencers, grocery shelves, online reviews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81" name="Google Shape;181;p6"/>
          <p:cNvPicPr preferRelativeResize="0"/>
          <p:nvPr/>
        </p:nvPicPr>
        <p:blipFill rotWithShape="1">
          <a:blip r:embed="R317c6c46fa70442b">
            <a:alphaModFix/>
          </a:blip>
          <a:srcRect b="0" l="0" r="0" t="0"/>
          <a:stretch/>
        </p:blipFill>
        <p:spPr>
          <a:xfrm>
            <a:off x="750912" y="2168947"/>
            <a:ext cx="553715" cy="66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1391096" y="2279675"/>
            <a:ext cx="138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 b="1" i="0" sz="1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391096" y="2504554"/>
            <a:ext cx="7001917" cy="1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protein, convenience, taste, clean ingredients, price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84" name="Google Shape;184;p6"/>
          <p:cNvPicPr preferRelativeResize="0"/>
          <p:nvPr/>
        </p:nvPicPr>
        <p:blipFill rotWithShape="1">
          <a:blip r:embed="R486b84dbac47400b">
            <a:alphaModFix/>
          </a:blip>
          <a:srcRect b="0" l="0" r="0" t="0"/>
          <a:stretch/>
        </p:blipFill>
        <p:spPr>
          <a:xfrm>
            <a:off x="750912" y="2833464"/>
            <a:ext cx="553715" cy="66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1391096" y="2944230"/>
            <a:ext cx="138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b="1" lang="en-US" sz="115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Purchase</a:t>
            </a:r>
            <a:endParaRPr b="1" sz="1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391096" y="3169072"/>
            <a:ext cx="7001917" cy="1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first purchases are trial-based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87" name="Google Shape;187;p6"/>
          <p:cNvPicPr preferRelativeResize="0"/>
          <p:nvPr/>
        </p:nvPicPr>
        <p:blipFill rotWithShape="1">
          <a:blip r:embed="R3485dece74ae4ff7">
            <a:alphaModFix/>
          </a:blip>
          <a:srcRect b="0" l="0" r="0" t="0"/>
          <a:stretch/>
        </p:blipFill>
        <p:spPr>
          <a:xfrm>
            <a:off x="750912" y="3497982"/>
            <a:ext cx="553715" cy="66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1391096" y="3608710"/>
            <a:ext cx="1384399" cy="173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b="1" i="0" lang="en-US" sz="115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Post-Purchase</a:t>
            </a:r>
            <a:endParaRPr b="1" i="0" sz="1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391096" y="3833589"/>
            <a:ext cx="7001917" cy="157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50"/>
              <a:buFont typeface="Arial"/>
              <a:buNone/>
            </a:pPr>
            <a:r>
              <a:rPr lang="en-US" sz="1100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not filling or valuable enough, consumers switch quickly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50912" y="4259833"/>
            <a:ext cx="7642101" cy="562868"/>
          </a:xfrm>
          <a:prstGeom prst="roundRect">
            <a:avLst>
              <a:gd fmla="val 826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6"/>
          <p:cNvPicPr preferRelativeResize="0"/>
          <p:nvPr/>
        </p:nvPicPr>
        <p:blipFill rotWithShape="1">
          <a:blip r:embed="R8874272a560a4d55">
            <a:alphaModFix/>
          </a:blip>
          <a:srcRect b="0" l="0" r="0" t="0"/>
          <a:stretch/>
        </p:blipFill>
        <p:spPr>
          <a:xfrm>
            <a:off x="906140" y="4409594"/>
            <a:ext cx="138410" cy="11072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/>
          <p:nvPr/>
        </p:nvSpPr>
        <p:spPr>
          <a:xfrm>
            <a:off x="1110779" y="4373984"/>
            <a:ext cx="7171506" cy="315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1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Insight: Breakfast is a low-to-medium involvement purchase, but protein and satiety act as minimum requirements. If the product fails on fullness, consumers may reject it even if it is convenient.</a:t>
            </a:r>
            <a:endParaRPr b="1" i="1" sz="10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2840344" y="81257"/>
            <a:ext cx="3463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40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350"/>
              <a:buFont typeface="Arial"/>
              <a:buNone/>
            </a:pP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Biggest Strategic Insight</a:t>
            </a:r>
            <a:endParaRPr b="1" i="0" sz="205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45219" y="1041127"/>
            <a:ext cx="1794197" cy="22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Real Problem</a:t>
            </a:r>
            <a:endParaRPr b="1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45225" y="1366250"/>
            <a:ext cx="41772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i="0" lang="en-US" sz="1100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MUSH's issue is not awareness. The issue is conversion and retention.</a:t>
            </a:r>
            <a:endParaRPr i="0" sz="1100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42994" y="1643534"/>
            <a:ext cx="1798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Consumers See MUSH As</a:t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45225" y="1931274"/>
            <a:ext cx="39807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Aesthetic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Convenient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45219" y="2679865"/>
            <a:ext cx="2537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Arial"/>
              <a:buNone/>
            </a:pPr>
            <a:r>
              <a:rPr b="1" lang="en-US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They Judge Breakfast Based On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45219" y="2919561"/>
            <a:ext cx="3980780" cy="811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this keep me full?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it have enough protein?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it give me energy?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•"/>
            </a:pPr>
            <a:r>
              <a:rPr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it worth buying repeatedly?</a:t>
            </a:r>
            <a:endParaRPr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b792ffe37a8240b3">
            <a:alphaModFix/>
          </a:blip>
          <a:srcRect b="0" l="0" r="0" t="0"/>
          <a:stretch/>
        </p:blipFill>
        <p:spPr>
          <a:xfrm>
            <a:off x="4722614" y="1158925"/>
            <a:ext cx="3980780" cy="238846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445219" y="3879577"/>
            <a:ext cx="4076254" cy="848767"/>
          </a:xfrm>
          <a:prstGeom prst="roundRect">
            <a:avLst>
              <a:gd fmla="val 5919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69565" y="4003923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Insight</a:t>
            </a:r>
            <a:endParaRPr b="1" i="0" sz="1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69565" y="4251275"/>
            <a:ext cx="3827562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MUSH is positioned emotionally as a wellness brand, but consumers evaluate it functionally as a breakfast meal.</a:t>
            </a:r>
            <a:endParaRPr b="1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622378" y="3879577"/>
            <a:ext cx="4076328" cy="848767"/>
          </a:xfrm>
          <a:prstGeom prst="roundRect">
            <a:avLst>
              <a:gd fmla="val 5919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746724" y="4003898"/>
            <a:ext cx="14952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Implication</a:t>
            </a:r>
            <a:endParaRPr b="1" i="0" sz="1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746724" y="4251275"/>
            <a:ext cx="3827636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grow, MUSH must close the gap between lifestyle appeal and functional performance.</a:t>
            </a:r>
            <a:endParaRPr b="1"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3413700" y="62125"/>
            <a:ext cx="23166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7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700"/>
              <a:buFont typeface="Arial"/>
              <a:buNone/>
            </a:pP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Assessment</a:t>
            </a:r>
            <a:endParaRPr b="1" i="0" sz="205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80640" y="873844"/>
            <a:ext cx="4441254" cy="34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150"/>
              <a:buFont typeface="Arial"/>
              <a:buNone/>
            </a:pPr>
            <a:r>
              <a:rPr b="1" i="0" lang="en-US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Story from Multiple Actors-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80640" y="1416621"/>
            <a:ext cx="8182719" cy="1936477"/>
          </a:xfrm>
          <a:prstGeom prst="roundRect">
            <a:avLst>
              <a:gd fmla="val 297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85403" y="1421383"/>
            <a:ext cx="8173194" cy="38539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22846" y="1505917"/>
            <a:ext cx="176629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2668488" y="1505917"/>
            <a:ext cx="278554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Story About MUSH</a:t>
            </a:r>
            <a:endParaRPr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733380" y="1505917"/>
            <a:ext cx="2787923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b="1" i="0" lang="en-US" sz="12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Meaning</a:t>
            </a:r>
            <a:endParaRPr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85403" y="1806773"/>
            <a:ext cx="8173194" cy="38539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22846" y="1891308"/>
            <a:ext cx="176629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Firm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668488" y="1891308"/>
            <a:ext cx="278554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Clean, simple, ready-to-eat oats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733380" y="1891308"/>
            <a:ext cx="2787923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brand clarity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85403" y="2192164"/>
            <a:ext cx="8173194" cy="38539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22846" y="2276698"/>
            <a:ext cx="176629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Influencers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2668488" y="2276698"/>
            <a:ext cx="278554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Lifestyle-focused healthy breakfast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733380" y="2276698"/>
            <a:ext cx="2787923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awareness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5403" y="2577554"/>
            <a:ext cx="8173194" cy="38539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22846" y="2662089"/>
            <a:ext cx="176629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Customers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2668488" y="2662089"/>
            <a:ext cx="278554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Convenient but not always filling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733380" y="2662089"/>
            <a:ext cx="2787923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gap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85403" y="2962945"/>
            <a:ext cx="8173194" cy="38539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622846" y="3047479"/>
            <a:ext cx="176629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Culture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2668488" y="3047479"/>
            <a:ext cx="278554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wellness product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733380" y="3047479"/>
            <a:ext cx="2787923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cultural relevance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80640" y="3635722"/>
            <a:ext cx="2036043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1" lang="en-US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b="1" i="0" lang="en-US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Culture Summary</a:t>
            </a:r>
            <a:endParaRPr b="1" i="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80650" y="3983223"/>
            <a:ext cx="39240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MUSH is a clean, convenient, lifestyle-driven breakfast brand that feels modern and health-conscious, but it is not yet fully owned as a high-performance breakfast solution</a:t>
            </a:r>
            <a:r>
              <a:rPr b="0" i="0" lang="en-US" sz="1050" u="none" cap="none" strike="noStrik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/>
          </a:p>
        </p:txBody>
      </p:sp>
      <p:sp>
        <p:nvSpPr>
          <p:cNvPr id="242" name="Google Shape;242;p8"/>
          <p:cNvSpPr/>
          <p:nvPr/>
        </p:nvSpPr>
        <p:spPr>
          <a:xfrm>
            <a:off x="4744269" y="3635722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1" lang="en-US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b="1" i="0" lang="en-US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Brand Gap</a:t>
            </a:r>
            <a:endParaRPr b="1" i="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744269" y="3983236"/>
            <a:ext cx="3923854" cy="432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Influencers and the brand focus on lifestyle. Customers focus on value, protein, and satiety.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9" name="Google Shape;249;p9"/>
          <p:cNvPicPr preferRelativeResize="0"/>
          <p:nvPr/>
        </p:nvPicPr>
        <p:blipFill rotWithShape="1">
          <a:blip r:embed="R9fe8325f45b14f3a">
            <a:alphaModFix/>
          </a:blip>
          <a:srcRect b="0" l="0" r="0" t="0"/>
          <a:stretch/>
        </p:blipFill>
        <p:spPr>
          <a:xfrm>
            <a:off x="-53425" y="0"/>
            <a:ext cx="31067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5285031" y="63982"/>
            <a:ext cx="26028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000"/>
              <a:buFont typeface="Arial"/>
              <a:buNone/>
            </a:pP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Marketing Strategy</a:t>
            </a:r>
            <a:endParaRPr b="1" i="0" sz="205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793331" y="688330"/>
            <a:ext cx="2734642" cy="260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1" i="0" lang="en-US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Role of Marketing-</a:t>
            </a:r>
            <a:endParaRPr b="1"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793325" y="947458"/>
            <a:ext cx="49863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Marketing should help MUSH move from awareness to habit formation.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3793331" y="1370037"/>
            <a:ext cx="1538436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Communication</a:t>
            </a:r>
            <a:endParaRPr b="1"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793331" y="1609130"/>
            <a:ext cx="2366218" cy="657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eating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Convenience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Wellness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Lifestyle aesthetics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418213" y="1370037"/>
            <a:ext cx="1980828" cy="16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000"/>
              <a:buFont typeface="Arial"/>
              <a:buNone/>
            </a:pPr>
            <a:r>
              <a:rPr b="1" i="0" lang="en-US" sz="110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Recommended Communication</a:t>
            </a:r>
            <a:endParaRPr b="1" i="0" sz="11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418213" y="1609130"/>
            <a:ext cx="2366218" cy="829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Protein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Satiety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Morning energy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breakfast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4290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routine support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793325" y="2885000"/>
            <a:ext cx="4986300" cy="904200"/>
          </a:xfrm>
          <a:prstGeom prst="roundRect">
            <a:avLst>
              <a:gd fmla="val 5087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70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3871237" y="2899332"/>
            <a:ext cx="13827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Positioning Statement</a:t>
            </a:r>
            <a:endParaRPr b="1"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902225" y="3170750"/>
            <a:ext cx="47685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busy, health-conscious students and young professionals, MUSH should be positioned as a clean, ready-to-eat breakfast that provides convenient nutrition and dependable morning energy.</a:t>
            </a:r>
            <a:endParaRPr b="1" i="1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793325" y="3901474"/>
            <a:ext cx="4986300" cy="1116600"/>
          </a:xfrm>
          <a:prstGeom prst="roundRect">
            <a:avLst>
              <a:gd fmla="val 330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70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3911849" y="3943613"/>
            <a:ext cx="13014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Message</a:t>
            </a:r>
            <a:endParaRPr b="1" i="0" sz="1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871225" y="4250650"/>
            <a:ext cx="49083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9283"/>
              </a:buClr>
              <a:buSzPts val="2800"/>
              <a:buFont typeface="Arial"/>
              <a:buNone/>
            </a:pPr>
            <a:r>
              <a:rPr i="1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"Don't Skip. Stay Full. Stay Sharp."</a:t>
            </a:r>
            <a:endParaRPr i="1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/>
          <p:nvPr/>
        </p:nvSpPr>
        <p:spPr>
          <a:xfrm>
            <a:off x="1388700" y="106725"/>
            <a:ext cx="73170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7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700"/>
              <a:buFont typeface="Arial"/>
              <a:buNone/>
            </a:pPr>
            <a:r>
              <a:rPr b="1" i="0" lang="en-US" sz="2050" u="sng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Marketing Communication Strategy</a:t>
            </a:r>
            <a:endParaRPr b="1" i="0" sz="205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80640" y="965746"/>
            <a:ext cx="2746697" cy="34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150"/>
              <a:buFont typeface="Arial"/>
              <a:buNone/>
            </a:pPr>
            <a:r>
              <a:rPr b="1" lang="en-US" sz="1600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sz="160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IMC Objective</a:t>
            </a:r>
            <a:endParaRPr b="1" i="0" sz="1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22900" y="1295877"/>
            <a:ext cx="81828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2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high awareness into trial, repeat purchase, and daily breakfast habits.</a:t>
            </a:r>
            <a:endParaRPr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990154" y="1874490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Advertising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990154" y="2168798"/>
            <a:ext cx="3498726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messaging around protein, satiety, energy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164634" y="1874490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164634" y="2168798"/>
            <a:ext cx="3498726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Two-way engagement, UGC, comments, challenges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990154" y="2651150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Promotion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990154" y="2945457"/>
            <a:ext cx="3498726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Sampling, bundles, student discounts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164634" y="2651150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164634" y="2945457"/>
            <a:ext cx="3498726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Founder story + nutrition performance story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990154" y="3427809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Sponsorship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990154" y="3722117"/>
            <a:ext cx="3498726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Gyms, universities, wellness events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164634" y="3427809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Marketing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164634" y="3722117"/>
            <a:ext cx="3498726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offers and repeat-purchase reminders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80640" y="4088085"/>
            <a:ext cx="8182719" cy="571946"/>
          </a:xfrm>
          <a:prstGeom prst="roundRect">
            <a:avLst>
              <a:gd fmla="val 10085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10"/>
          <p:cNvPicPr preferRelativeResize="0"/>
          <p:nvPr/>
        </p:nvPicPr>
        <p:blipFill rotWithShape="1">
          <a:blip r:embed="R042f52d1f6a74a77">
            <a:alphaModFix/>
          </a:blip>
          <a:srcRect b="0" l="0" r="0" t="0"/>
          <a:stretch/>
        </p:blipFill>
        <p:spPr>
          <a:xfrm>
            <a:off x="617934" y="4301430"/>
            <a:ext cx="171599" cy="13729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/>
          <p:nvPr/>
        </p:nvSpPr>
        <p:spPr>
          <a:xfrm>
            <a:off x="926827" y="4255368"/>
            <a:ext cx="7599238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1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Insight: The plan is not about louder communication. It is about more relevant communication.</a:t>
            </a:r>
            <a:endParaRPr b="1" i="1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1"/>
          <p:cNvPicPr preferRelativeResize="0"/>
          <p:nvPr/>
        </p:nvPicPr>
        <p:blipFill rotWithShape="1">
          <a:blip r:embed="Rba73595857ad4ff9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750"/>
              <a:buFont typeface="Arial"/>
              <a:buNone/>
            </a:pPr>
            <a:r>
              <a:rPr b="1" i="0" lang="en-US" sz="275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Don't Skip. Stay Full. Stay Sharp.</a:t>
            </a:r>
            <a:endParaRPr b="1" i="0" sz="27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200" u="none" cap="none" strike="noStrike">
                <a:solidFill>
                  <a:srgbClr val="4C4C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Repositioning MUSH as the essential morning breakfast for busy consumers who need clean, quick, and functional nutrition to start their day.</a:t>
            </a:r>
            <a:endParaRPr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2521032" y="570843"/>
            <a:ext cx="3544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750"/>
              <a:buFont typeface="Arial"/>
              <a:buNone/>
            </a:pPr>
            <a:r>
              <a:rPr b="1" i="0" lang="en-US" sz="205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Campaign Strategy</a:t>
            </a:r>
            <a:endParaRPr b="1" i="0" sz="205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96119" y="1784672"/>
            <a:ext cx="2622724" cy="2300660"/>
          </a:xfrm>
          <a:prstGeom prst="roundRect">
            <a:avLst>
              <a:gd fmla="val 2588" name="adj"/>
            </a:avLst>
          </a:prstGeom>
          <a:solidFill>
            <a:srgbClr val="F2EDE5"/>
          </a:solidFill>
          <a:ln cap="flat" cmpd="sng" w="9525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921438" y="2049824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03165" y="2691340"/>
            <a:ext cx="23298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Instagram Reels showing real morning routines, TikTok "My Powered Morning" challenge, influencer stories focused on energy and fullness.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60601" y="1784672"/>
            <a:ext cx="2622724" cy="2300660"/>
          </a:xfrm>
          <a:prstGeom prst="roundRect">
            <a:avLst>
              <a:gd fmla="val 2588" name="adj"/>
            </a:avLst>
          </a:prstGeom>
          <a:solidFill>
            <a:srgbClr val="F2EDE5"/>
          </a:solidFill>
          <a:ln cap="flat" cmpd="sng" w="9525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685947" y="2049804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Experiential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07122" y="2804715"/>
            <a:ext cx="23298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Campus sampling booths, gym partnerships, morning pop-up stations to reach target consumers where they are.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025083" y="1784672"/>
            <a:ext cx="2622724" cy="2300660"/>
          </a:xfrm>
          <a:prstGeom prst="roundRect">
            <a:avLst>
              <a:gd fmla="val 2588" name="adj"/>
            </a:avLst>
          </a:prstGeom>
          <a:solidFill>
            <a:srgbClr val="F2EDE5"/>
          </a:solidFill>
          <a:ln cap="flat" cmpd="sng" w="9525">
            <a:solidFill>
              <a:srgbClr val="E6DED2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E6DED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450380" y="2049779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Promotion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171593" y="2872815"/>
            <a:ext cx="23298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discounts, trial bundles, and referral offers to drive initial purchase and repeat behavior.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2799932" y="685229"/>
            <a:ext cx="3544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750"/>
              <a:buFont typeface="Arial"/>
              <a:buNone/>
            </a:pPr>
            <a:r>
              <a:rPr b="1" i="0" lang="en-US" sz="215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Innovation</a:t>
            </a:r>
            <a:endParaRPr b="1" i="0" sz="215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96119" y="1570583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MUSH needs stronger functional value to stand out. Competitors offer either convenience or performance—MUSH wins by combining clean convenience with customizable functional nutrition.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08720" y="2750716"/>
            <a:ext cx="2410048" cy="141759"/>
          </a:xfrm>
          <a:prstGeom prst="roundRect">
            <a:avLst>
              <a:gd fmla="val 4200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96119" y="2608920"/>
            <a:ext cx="425276" cy="425276"/>
          </a:xfrm>
          <a:prstGeom prst="roundRect">
            <a:avLst>
              <a:gd fmla="val 6719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37875" y="3175997"/>
            <a:ext cx="23391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Protein Boost Add-On Packs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37877" y="3522435"/>
            <a:ext cx="2339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Customizable protein based on individual needs.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473202" y="2538040"/>
            <a:ext cx="2410048" cy="141759"/>
          </a:xfrm>
          <a:prstGeom prst="roundRect">
            <a:avLst>
              <a:gd fmla="val 4200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260601" y="2396244"/>
            <a:ext cx="425276" cy="425276"/>
          </a:xfrm>
          <a:prstGeom prst="roundRect">
            <a:avLst>
              <a:gd fmla="val 6719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402360" y="2963317"/>
            <a:ext cx="23339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 Breakfast Kits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402360" y="3269828"/>
            <a:ext cx="233920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100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Weekly ready-to-eat packs to build habit and repeat purchase.</a:t>
            </a:r>
            <a:endParaRPr i="0" sz="1100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237684" y="2325439"/>
            <a:ext cx="2410048" cy="141759"/>
          </a:xfrm>
          <a:prstGeom prst="roundRect">
            <a:avLst>
              <a:gd fmla="val 4200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025083" y="2183643"/>
            <a:ext cx="425276" cy="425276"/>
          </a:xfrm>
          <a:prstGeom prst="roundRect">
            <a:avLst>
              <a:gd fmla="val 6719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166842" y="2750716"/>
            <a:ext cx="201602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Campus + Gym Bundles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166842" y="3057227"/>
            <a:ext cx="2339206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high-fit consumers where the breakfast problem happens most.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521643" y="340668"/>
            <a:ext cx="6256213" cy="366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300"/>
              <a:buFont typeface="Arial"/>
              <a:buNone/>
            </a:pPr>
            <a:r>
              <a:rPr b="1" i="0" lang="en-US" sz="21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CRM Strategy: From Product to Relationship</a:t>
            </a:r>
            <a:endParaRPr b="1" i="0" sz="21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21643" y="950491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Shift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21643" y="1231106"/>
            <a:ext cx="3907110" cy="34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Breakfast is a repeat category—long-term value comes from retention and purchase frequency, not just first purchase.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21643" y="1671638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CRM Priorities</a:t>
            </a:r>
            <a:endParaRPr b="1" i="0" sz="1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21643" y="1952253"/>
            <a:ext cx="3907110" cy="994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•"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 model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•"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Loyalty rewards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•"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offers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•"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Referral programs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•"/>
            </a:pPr>
            <a:r>
              <a:rPr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"Powered Morning Club" community</a:t>
            </a:r>
            <a:endParaRPr i="0" sz="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bb2467b623b34ae3">
            <a:alphaModFix/>
          </a:blip>
          <a:srcRect b="0" l="0" r="0" t="0"/>
          <a:stretch/>
        </p:blipFill>
        <p:spPr>
          <a:xfrm>
            <a:off x="6286649" y="962620"/>
            <a:ext cx="773534" cy="32362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6590854" y="1057945"/>
            <a:ext cx="165050" cy="206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85" name="Google Shape;85;p4"/>
          <p:cNvPicPr preferRelativeResize="0"/>
          <p:nvPr/>
        </p:nvPicPr>
        <p:blipFill rotWithShape="1">
          <a:blip r:embed="Rffa25d12b3b84d80">
            <a:alphaModFix/>
          </a:blip>
          <a:srcRect b="0" l="0" r="0" t="0"/>
          <a:stretch/>
        </p:blipFill>
        <p:spPr>
          <a:xfrm>
            <a:off x="5899845" y="1315566"/>
            <a:ext cx="1547143" cy="32362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6590854" y="1374204"/>
            <a:ext cx="165050" cy="206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e39c3d30124849a8">
            <a:alphaModFix/>
          </a:blip>
          <a:srcRect b="0" l="0" r="0" t="0"/>
          <a:stretch/>
        </p:blipFill>
        <p:spPr>
          <a:xfrm>
            <a:off x="5513040" y="1668512"/>
            <a:ext cx="2320751" cy="32362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6590854" y="1727150"/>
            <a:ext cx="165050" cy="206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89" name="Google Shape;89;p4"/>
          <p:cNvPicPr preferRelativeResize="0"/>
          <p:nvPr/>
        </p:nvPicPr>
        <p:blipFill rotWithShape="1">
          <a:blip r:embed="Rb050d1be5491474a">
            <a:alphaModFix/>
          </a:blip>
          <a:srcRect b="0" l="0" r="0" t="0"/>
          <a:stretch/>
        </p:blipFill>
        <p:spPr>
          <a:xfrm>
            <a:off x="5126236" y="2021458"/>
            <a:ext cx="3094360" cy="32362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6590854" y="2080096"/>
            <a:ext cx="165050" cy="206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241b14aa1d034331">
            <a:alphaModFix/>
          </a:blip>
          <a:srcRect b="0" l="0" r="0" t="0"/>
          <a:stretch/>
        </p:blipFill>
        <p:spPr>
          <a:xfrm>
            <a:off x="4739432" y="2374404"/>
            <a:ext cx="3867969" cy="32362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6590854" y="2433042"/>
            <a:ext cx="165050" cy="206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i="0" sz="12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719861" y="2815382"/>
            <a:ext cx="234776" cy="234776"/>
          </a:xfrm>
          <a:prstGeom prst="roundRect">
            <a:avLst>
              <a:gd fmla="val 2100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763839" y="2841017"/>
            <a:ext cx="1467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51822" y="2841054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Advocacy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719861" y="3226222"/>
            <a:ext cx="234776" cy="234776"/>
          </a:xfrm>
          <a:prstGeom prst="roundRect">
            <a:avLst>
              <a:gd fmla="val 2100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763839" y="3251857"/>
            <a:ext cx="1467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051822" y="3251895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719861" y="3637062"/>
            <a:ext cx="234776" cy="234776"/>
          </a:xfrm>
          <a:prstGeom prst="roundRect">
            <a:avLst>
              <a:gd fmla="val 2100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763839" y="3662697"/>
            <a:ext cx="1467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051822" y="3662735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Purchase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719861" y="4047902"/>
            <a:ext cx="234776" cy="234776"/>
          </a:xfrm>
          <a:prstGeom prst="roundRect">
            <a:avLst>
              <a:gd fmla="val 2100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763839" y="4073537"/>
            <a:ext cx="1467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051822" y="4073575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Trial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719861" y="4458742"/>
            <a:ext cx="234776" cy="234776"/>
          </a:xfrm>
          <a:prstGeom prst="roundRect">
            <a:avLst>
              <a:gd fmla="val 21002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524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763839" y="4484377"/>
            <a:ext cx="1467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051822" y="4484415"/>
            <a:ext cx="146744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Awareness</a:t>
            </a:r>
            <a:endParaRPr b="1" i="0" sz="11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2510954" y="381463"/>
            <a:ext cx="44361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700"/>
              <a:buFont typeface="Arial"/>
              <a:buNone/>
            </a:pPr>
            <a:r>
              <a:rPr b="1" i="0" lang="en-US" sz="21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Roadmap</a:t>
            </a:r>
            <a:endParaRPr b="1" i="0" sz="21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88379" y="2445693"/>
            <a:ext cx="8167241" cy="19050"/>
          </a:xfrm>
          <a:prstGeom prst="roundRect">
            <a:avLst>
              <a:gd fmla="val 307674" name="adj"/>
            </a:avLst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2060674" y="2027076"/>
            <a:ext cx="19050" cy="418654"/>
          </a:xfrm>
          <a:prstGeom prst="roundRect">
            <a:avLst>
              <a:gd fmla="val 307674" name="adj"/>
            </a:avLst>
          </a:prstGeom>
          <a:solidFill>
            <a:srgbClr val="CCC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913260" y="2288716"/>
            <a:ext cx="313953" cy="313953"/>
          </a:xfrm>
          <a:prstGeom prst="roundRect">
            <a:avLst>
              <a:gd fmla="val 18669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965536" y="2314835"/>
            <a:ext cx="209327" cy="26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121866" y="1144191"/>
            <a:ext cx="1896814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1: Repositioning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27906" y="1444600"/>
            <a:ext cx="288481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messaging and brand communication.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728442" y="2445655"/>
            <a:ext cx="19050" cy="418654"/>
          </a:xfrm>
          <a:prstGeom prst="roundRect">
            <a:avLst>
              <a:gd fmla="val 307674" name="adj"/>
            </a:avLst>
          </a:prstGeom>
          <a:solidFill>
            <a:srgbClr val="CCC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3581028" y="2288716"/>
            <a:ext cx="313953" cy="313953"/>
          </a:xfrm>
          <a:prstGeom prst="roundRect">
            <a:avLst>
              <a:gd fmla="val 18669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633304" y="2314835"/>
            <a:ext cx="209327" cy="26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670944" y="3003872"/>
            <a:ext cx="2134270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2: Trial Generation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295674" y="3304282"/>
            <a:ext cx="288481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sampling, influencer, and student campaigns.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396210" y="2027076"/>
            <a:ext cx="19050" cy="418654"/>
          </a:xfrm>
          <a:prstGeom prst="roundRect">
            <a:avLst>
              <a:gd fmla="val 307674" name="adj"/>
            </a:avLst>
          </a:prstGeom>
          <a:solidFill>
            <a:srgbClr val="CCC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248796" y="2288716"/>
            <a:ext cx="313953" cy="313953"/>
          </a:xfrm>
          <a:prstGeom prst="roundRect">
            <a:avLst>
              <a:gd fmla="val 18669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301072" y="2314835"/>
            <a:ext cx="209327" cy="26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33677" y="1144191"/>
            <a:ext cx="1744340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3: Retention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963442" y="1444600"/>
            <a:ext cx="288481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subscription packs and loyalty rewards.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063978" y="2445655"/>
            <a:ext cx="19050" cy="418654"/>
          </a:xfrm>
          <a:prstGeom prst="roundRect">
            <a:avLst>
              <a:gd fmla="val 307674" name="adj"/>
            </a:avLst>
          </a:prstGeom>
          <a:solidFill>
            <a:srgbClr val="CCC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6916564" y="2288716"/>
            <a:ext cx="313953" cy="313953"/>
          </a:xfrm>
          <a:prstGeom prst="roundRect">
            <a:avLst>
              <a:gd fmla="val 18669" name="adj"/>
            </a:avLst>
          </a:prstGeom>
          <a:solidFill>
            <a:srgbClr val="E6DED2">
              <a:alpha val="50196"/>
            </a:srgbClr>
          </a:solidFill>
          <a:ln cap="flat" cmpd="sng" w="9525">
            <a:solidFill>
              <a:srgbClr val="CCC4B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7780">
              <a:srgbClr val="CCC4B8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968840" y="2314835"/>
            <a:ext cx="209327" cy="26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150620" y="3003872"/>
            <a:ext cx="1845915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4: Optimization</a:t>
            </a:r>
            <a:endParaRPr b="1"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631210" y="3304282"/>
            <a:ext cx="288481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050"/>
              <a:buFont typeface="Arial"/>
              <a:buNone/>
            </a:pPr>
            <a:r>
              <a:rPr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KPIs monthly and adjust strategy.</a:t>
            </a:r>
            <a:endParaRPr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88379" y="3901678"/>
            <a:ext cx="8167241" cy="808434"/>
          </a:xfrm>
          <a:prstGeom prst="roundRect">
            <a:avLst>
              <a:gd fmla="val 7250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cf44a7d90ee3483e">
            <a:alphaModFix/>
          </a:blip>
          <a:srcRect b="0" l="0" r="0" t="0"/>
          <a:stretch/>
        </p:blipFill>
        <p:spPr>
          <a:xfrm>
            <a:off x="627906" y="4115842"/>
            <a:ext cx="174427" cy="13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941859" y="4073872"/>
            <a:ext cx="757423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1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Strategic Statement:</a:t>
            </a:r>
            <a:r>
              <a:rPr i="1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MUSH already owns clean and convenient. To win long-term, it must own protein, fullness, and breakfast performance.</a:t>
            </a:r>
            <a:endParaRPr i="1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terms:modified xsi:type="dcterms:W3CDTF">2026-05-06T22:02:47.8340000Z</dcterms:modified>
</coreProperties>
</file>